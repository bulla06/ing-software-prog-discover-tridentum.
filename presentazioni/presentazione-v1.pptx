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gdiJsBnCqYh2L16y89FEi3dW56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Siamo il team di Trento Nascosta. Vi presentiamo una guida turistica per Trento, ma tutto tranne che convenzionale.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Trento accoglie circa 1,4 milioni di turisti l'anno, con una permanenza media di 2,7 giorni, e il numero è in crescita. Eppure si racconta quasi solo il Concilio e il passato austriaco. Resta fuori la storia più cittadina: la Tridentum romana, i bombardamenti della Seconda guerra mondiale e la ricostruzione, lo spostamento degli argini dell'Adige. Gli affreschi del centro sono tantissimi ma difficili da identificare e cercare online. Attori coinvolti: turisti, residenti e Comune. Se non interveniamo, questo patrimonio resta invisibile e i flussi si concentrano sui soliti due o tre luoghi.</a:t>
            </a: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nostra risposta è Trento Nascosta: un'app mobile che dà indicazioni ai turisti su cosa fare durante la permanenza, e colma il vuoto sulla storia meno raccontata. Sei funzioni: mappa dei punti di interesse, affreschi del centro geolocalizzati, caricamento di foto e aneddoti da parte degli utenti, cultura e tradizioni, mappa gastronomica e un minigame in stile GeoGuessr con foto storiche della città. L'elemento distintivo rispetto alle guide classiche è che i contenuti crescono grazie ai residenti, e il gioco aumenta il coinvolgimento. È realizzabile partendo da un nucleo di contenuti curati e può essere esteso in futuro ad altri quartieri o a tutto il Trentino.</a:t>
            </a: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Benefici diretti: i turisti hanno una guida sempre a portata di mano con itinerari originali; i residenti riscoprono la città e possono raccontarla; il Comune valorizza un patrimonio oggi poco visibile e distribuisce meglio i flussi. Nel lungo periodo si crea un archivio collettivo della memoria di Trento, si offre un motivo in più per allungare la permanenza e si rafforza il senso di appartenenza. Il valore aggiunto è una storia della città che non resta nei libri ma vive nelle strade.</a:t>
            </a:r>
            <a:endParaRPr/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760720" y="-1097280"/>
            <a:ext cx="4754880" cy="4754880"/>
          </a:xfrm>
          <a:prstGeom prst="ellipse">
            <a:avLst/>
          </a:prstGeom>
          <a:solidFill>
            <a:srgbClr val="B545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3017520"/>
            <a:ext cx="2377440" cy="2377440"/>
          </a:xfrm>
          <a:prstGeom prst="ellipse">
            <a:avLst/>
          </a:prstGeom>
          <a:solidFill>
            <a:srgbClr val="E0A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6600" y="68580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548640" y="11430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DISCOVER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48640" y="18288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43B"/>
              </a:buClr>
              <a:buSzPts val="4800"/>
              <a:buFont typeface="Cambria"/>
              <a:buNone/>
            </a:pPr>
            <a:r>
              <a:rPr lang="en-US" sz="4800" b="1">
                <a:solidFill>
                  <a:srgbClr val="E0A43B"/>
                </a:solidFill>
                <a:latin typeface="Cambria"/>
                <a:ea typeface="Cambria"/>
                <a:cs typeface="Cambria"/>
                <a:sym typeface="Cambria"/>
              </a:rPr>
              <a:t>TRIDENTUM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26974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DDD5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E6DDD5"/>
                </a:solidFill>
                <a:latin typeface="Calibri"/>
                <a:ea typeface="Calibri"/>
                <a:cs typeface="Calibri"/>
                <a:sym typeface="Calibri"/>
              </a:rPr>
              <a:t>La guida che racconta la città che non trovi su Google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48640" y="41148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2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Progetto di Ingegneria del Software · Prof. Paolo Giorgini · A.A. 2026-2027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B9C2C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Manuel Bulla</a:t>
            </a:r>
            <a:r>
              <a:rPr lang="en-US" sz="1100" b="0" i="0" u="none" strike="noStrike" cap="none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100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Marco Buffa</a:t>
            </a:r>
            <a:r>
              <a:rPr lang="en-US" sz="1100" b="0" i="0" u="none" strike="noStrike" cap="none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100">
                <a:solidFill>
                  <a:srgbClr val="B9C2C6"/>
                </a:solidFill>
                <a:latin typeface="Calibri"/>
                <a:ea typeface="Calibri"/>
                <a:cs typeface="Calibri"/>
                <a:sym typeface="Calibri"/>
              </a:rPr>
              <a:t>Pietro Crea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F2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411480" y="411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4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A43B"/>
                </a:solidFill>
                <a:latin typeface="Calibri"/>
                <a:ea typeface="Calibri"/>
                <a:cs typeface="Calibri"/>
                <a:sym typeface="Calibri"/>
              </a:rPr>
              <a:t>IL CONTESTO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1480" y="8686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1,4 mln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11480" y="1508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1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1D4"/>
                </a:solidFill>
                <a:latin typeface="Calibri"/>
                <a:ea typeface="Calibri"/>
                <a:cs typeface="Calibri"/>
                <a:sym typeface="Calibri"/>
              </a:rPr>
              <a:t>turisti ogni anno a Trento, in crescita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411480" y="2240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2,7 gg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411480" y="2880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1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1D4"/>
                </a:solidFill>
                <a:latin typeface="Calibri"/>
                <a:ea typeface="Calibri"/>
                <a:cs typeface="Calibri"/>
                <a:sym typeface="Calibri"/>
              </a:rPr>
              <a:t>permanenza media in città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411480" y="36118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2ª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11480" y="4251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1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1D4"/>
                </a:solidFill>
                <a:latin typeface="Calibri"/>
                <a:ea typeface="Calibri"/>
                <a:cs typeface="Calibri"/>
                <a:sym typeface="Calibri"/>
              </a:rPr>
              <a:t>regione più visitata d'Italia (Trentino-A</a:t>
            </a:r>
            <a:r>
              <a:rPr lang="en-US" sz="1200">
                <a:solidFill>
                  <a:srgbClr val="C9D1D4"/>
                </a:solidFill>
                <a:latin typeface="Calibri"/>
                <a:ea typeface="Calibri"/>
                <a:cs typeface="Calibri"/>
                <a:sym typeface="Calibri"/>
              </a:rPr>
              <a:t>.A.)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3749040" y="3657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Il problema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3749040" y="960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52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B5452C"/>
                </a:solidFill>
                <a:latin typeface="Calibri"/>
                <a:ea typeface="Calibri"/>
                <a:cs typeface="Calibri"/>
                <a:sym typeface="Calibri"/>
              </a:rPr>
              <a:t>Tanti visitatori, ma vedono sempre la stessa Trento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749040" y="1600200"/>
            <a:ext cx="640080" cy="64008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5461" y="17666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Turismo di sola superficie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572000" y="18745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Molti turisti cercano esperienze autentiche oltre ai soliti monumenti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749040" y="2697480"/>
            <a:ext cx="640080" cy="64008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Logo i"/>
          <p:cNvPicPr preferRelativeResize="0"/>
          <p:nvPr/>
        </p:nvPicPr>
        <p:blipFill rotWithShape="1">
          <a:blip r:embed="rId4"/>
          <a:srcRect l="11015" t="5358" r="15355" b="6364"/>
          <a:stretch>
            <a:fillRect/>
          </a:stretch>
        </p:blipFill>
        <p:spPr>
          <a:xfrm>
            <a:off x="3949303" y="2880359"/>
            <a:ext cx="226219" cy="2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457200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Reperibilità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4572000" y="29718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L’accesso alle informazioni è limitato o molto costoso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749040" y="3794760"/>
            <a:ext cx="640080" cy="64008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5461" y="39611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4572000" y="37490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Storia "popolare" trascurata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4572000" y="40690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Residenti e appassionati di storia desiderano condividere e riscoprire la memoria locale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La soluzione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52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B5452C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r>
              <a:rPr lang="en-US" sz="1500" i="1">
                <a:solidFill>
                  <a:srgbClr val="B5452C"/>
                </a:solidFill>
                <a:latin typeface="Calibri"/>
                <a:ea typeface="Calibri"/>
                <a:cs typeface="Calibri"/>
                <a:sym typeface="Calibri"/>
              </a:rPr>
              <a:t>a web app</a:t>
            </a:r>
            <a:r>
              <a:rPr lang="en-US" sz="1500" b="0" i="1" u="none" strike="noStrike" cap="none">
                <a:solidFill>
                  <a:srgbClr val="B5452C"/>
                </a:solidFill>
                <a:latin typeface="Calibri"/>
                <a:ea typeface="Calibri"/>
                <a:cs typeface="Calibri"/>
                <a:sym typeface="Calibri"/>
              </a:rPr>
              <a:t>: una guida da tasca per turisti e residenti, costruita anche dalla community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15087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40080" y="1709928"/>
            <a:ext cx="502920" cy="50292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39" y="1840687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1280160" y="16916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Mappa dei punti di interesse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640080" y="231343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Dal Buonconsiglio a Piazza Duomo, con suggerimenti su cosa fare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64408" y="15087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447288" y="1709928"/>
            <a:ext cx="502920" cy="50292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8047" y="1840687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4087368" y="16916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Arte nascosta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3447288" y="231343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Gli affreschi del centro storico, geolocalizzati e spiegati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071616" y="15087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254496" y="1709928"/>
            <a:ext cx="502920" cy="50292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5255" y="1840687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6894576" y="16916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Foto e aneddoti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254496" y="231343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Gli utenti caricano immagini e "fun fact" su luoghi e famiglie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2990088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40080" y="3191256"/>
            <a:ext cx="502920" cy="50292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839" y="332201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1280160" y="317296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Cultura e tradizioni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40080" y="37947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Feste, usanze e storie del territorio trentino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64408" y="2990088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447288" y="3191256"/>
            <a:ext cx="502920" cy="50292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78047" y="332201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4087368" y="317296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Mappa gastronomica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3447288" y="37947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Dove assaggiare i piatti tipici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071616" y="2990088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1F2A30"/>
          </a:solidFill>
          <a:ln w="12700" cap="flat" cmpd="sng">
            <a:solidFill>
              <a:srgbClr val="1F2A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254496" y="3191256"/>
            <a:ext cx="502920" cy="502920"/>
          </a:xfrm>
          <a:prstGeom prst="ellipse">
            <a:avLst/>
          </a:prstGeom>
          <a:solidFill>
            <a:srgbClr val="E0A43B"/>
          </a:solidFill>
          <a:ln w="12700" cap="flat" cmpd="sng">
            <a:solidFill>
              <a:srgbClr val="E0A4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5255" y="332201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6894576" y="317296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Minigame "Dov'era?"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254496" y="37947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5DCD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5DCDF"/>
                </a:solidFill>
                <a:latin typeface="Calibri"/>
                <a:ea typeface="Calibri"/>
                <a:cs typeface="Calibri"/>
                <a:sym typeface="Calibri"/>
              </a:rPr>
              <a:t>Indovina il luogo da una foto storica, stile GeoGuessr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Innovazione: </a:t>
            </a:r>
            <a:r>
              <a:rPr lang="en-US" sz="11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contenuti generati dalla community + gioco per coinvolgere. Base iniziale da fonti storiche, poi ampliabile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I vantaggi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52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B5452C"/>
                </a:solidFill>
                <a:latin typeface="Calibri"/>
                <a:ea typeface="Calibri"/>
                <a:cs typeface="Calibri"/>
                <a:sym typeface="Calibri"/>
              </a:rPr>
              <a:t>Un valore per ognuno degli attori coinvolti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1554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40080" y="1755648"/>
            <a:ext cx="548640" cy="54864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726" y="189829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1325880" y="1755648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Turisti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40080" y="24231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Scoprono itinerari originali e vivono la città oltre i soliti luoghi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64408" y="1554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447288" y="1755648"/>
            <a:ext cx="548640" cy="54864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9934" y="189829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4133088" y="1755648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Residenti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447288" y="24231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Riscoprono la propria città e diventano narratori della sua storia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71616" y="15544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EEE8"/>
          </a:solidFill>
          <a:ln w="12700" cap="flat" cmpd="sng">
            <a:solidFill>
              <a:srgbClr val="F4E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254496" y="1755648"/>
            <a:ext cx="548640" cy="548640"/>
          </a:xfrm>
          <a:prstGeom prst="ellipse">
            <a:avLst/>
          </a:prstGeom>
          <a:solidFill>
            <a:srgbClr val="B5452C"/>
          </a:solidFill>
          <a:ln w="12700" cap="flat" cmpd="sng">
            <a:solidFill>
              <a:srgbClr val="B545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7142" y="189829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6940296" y="1755648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F2A30"/>
                </a:solidFill>
                <a:latin typeface="Cambria"/>
                <a:ea typeface="Cambria"/>
                <a:cs typeface="Cambria"/>
                <a:sym typeface="Cambria"/>
              </a:rPr>
              <a:t>Comune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6254496" y="24231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E6A70"/>
                </a:solidFill>
                <a:latin typeface="Calibri"/>
                <a:ea typeface="Calibri"/>
                <a:cs typeface="Calibri"/>
                <a:sym typeface="Calibri"/>
              </a:rPr>
              <a:t>Valorizza il patrimonio "minore" e distribuisce i flussi nel centro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 w="12700" cap="flat" cmpd="sng">
            <a:solidFill>
              <a:srgbClr val="1F2A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31520" y="3639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4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A43B"/>
                </a:solidFill>
                <a:latin typeface="Calibri"/>
                <a:ea typeface="Calibri"/>
                <a:cs typeface="Calibri"/>
                <a:sym typeface="Calibri"/>
              </a:rPr>
              <a:t>NEL LUNGO PERIODO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520" y="4069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23444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archivio digitale collettivo della memoria cittadina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83280" y="4069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388620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Più cose da fare: motivo per restare oltre i 2,7 giorni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35040" y="4069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653796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 di appartenenza e storia che resta viva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-1097280" y="2377440"/>
            <a:ext cx="3840480" cy="3840480"/>
          </a:xfrm>
          <a:prstGeom prst="ellipse">
            <a:avLst/>
          </a:prstGeom>
          <a:solidFill>
            <a:srgbClr val="B545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680960" y="-731520"/>
            <a:ext cx="2194560" cy="2194560"/>
          </a:xfrm>
          <a:prstGeom prst="ellipse">
            <a:avLst/>
          </a:prstGeom>
          <a:solidFill>
            <a:srgbClr val="E0A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Grazie per l'attenzione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A43B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E0A43B"/>
                </a:solidFill>
                <a:latin typeface="Calibri"/>
                <a:ea typeface="Calibri"/>
                <a:cs typeface="Calibri"/>
                <a:sym typeface="Calibri"/>
              </a:rPr>
              <a:t>- Q&amp;A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Presentazione su schermo (16:9)</PresentationFormat>
  <Paragraphs>58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Bulla, Manuel</cp:lastModifiedBy>
  <cp:revision>1</cp:revision>
  <dcterms:created xsi:type="dcterms:W3CDTF">2026-09-30T07:31:16Z</dcterms:created>
  <dcterms:modified xsi:type="dcterms:W3CDTF">2026-09-30T08:31:51Z</dcterms:modified>
</cp:coreProperties>
</file>
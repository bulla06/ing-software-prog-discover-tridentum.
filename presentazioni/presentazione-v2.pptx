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Siamo il team di Trento Nascosta. Vi presentiamo una guida turistica per Trento, ma tutto tranne che convenzionale.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Trento accoglie circa 1,4 milioni di turisti l'anno, con una permanenza media di 2,7 giorni, e il numero è in crescita. Eppure si racconta quasi solo il Concilio e il passato austriaco. Resta fuori la storia più cittadina: la Tridentum romana, i bombardamenti della Seconda guerra mondiale e la ricostruzione, lo spostamento degli argini dell'Adige. Gli affreschi del centro sono tantissimi ma difficili da identificare e cercare online. Attori coinvolti: turisti, residenti e Comune. Se non interveniamo, questo patrimonio resta invisibile e i flussi si concentrano sui soliti due o tre luoghi.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nostra risposta è Trento Nascosta: una web app che dà indicazioni ai turisti su cosa fare durante la permanenza, e colma il vuoto sulla storia meno raccontata. Sei funzioni: mappa dei punti di interesse, affreschi del centro geolocalizzati, caricamento di foto e aneddoti da parte degli utenti, cultura e tradizioni, mappa gastronomica e un minigame in stile GeoGuessr con foto storiche della città. L'elemento distintivo rispetto alle guide classiche è che i contenuti crescono grazie ai residenti, e il gioco aumenta il coinvolgimento. È realizzabile partendo da un nucleo di contenuti curati e può essere esteso in futuro ad altri quartieri o a tutto il Trentino.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Benefici diretti: i turisti hanno una guida sempre a portata di mano con itinerari originali; i residenti riscoprono la città e possono raccontarla; il Comune valorizza un patrimonio oggi poco visibile e distribuisce meglio i flussi. Nel lungo periodo si crea un archivio collettivo della memoria di Trento, si offre un motivo in più per allungare la permanenza e si rafforza il senso di appartenenza. Il valore aggiunto è una storia della città che non resta nei libri ma vive nelle strade.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0" y="-952500"/>
            <a:ext cx="5143500" cy="5143500"/>
          </a:xfrm>
          <a:prstGeom prst="ellipse">
            <a:avLst/>
          </a:prstGeom>
          <a:solidFill>
            <a:srgbClr val="B5452C"/>
          </a:solidFill>
          <a:ln/>
        </p:spPr>
      </p:sp>
      <p:sp>
        <p:nvSpPr>
          <p:cNvPr id="3" name="Shape 1"/>
          <p:cNvSpPr/>
          <p:nvPr/>
        </p:nvSpPr>
        <p:spPr>
          <a:xfrm>
            <a:off x="5857875" y="3619500"/>
            <a:ext cx="2381250" cy="2381250"/>
          </a:xfrm>
          <a:prstGeom prst="ellipse">
            <a:avLst/>
          </a:prstGeom>
          <a:solidFill>
            <a:srgbClr val="D99A2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9875" y="904875"/>
            <a:ext cx="1428750" cy="14287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09600" y="1190625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b="1" spc="15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TRENTO NASCOSTA</a:t>
            </a:r>
            <a:endParaRPr lang="en-US" sz="975" dirty="0"/>
          </a:p>
        </p:txBody>
      </p:sp>
      <p:sp>
        <p:nvSpPr>
          <p:cNvPr id="6" name="Text 3"/>
          <p:cNvSpPr txBox="1"/>
          <p:nvPr/>
        </p:nvSpPr>
        <p:spPr>
          <a:xfrm>
            <a:off x="609600" y="1428750"/>
            <a:ext cx="4762500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4EE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609600" y="2214563"/>
            <a:ext cx="4762500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D99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Tridentum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609600" y="31432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i="1" dirty="0">
                <a:solidFill>
                  <a:srgbClr val="C9CF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città che non trovi su Google.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609600" y="4429125"/>
            <a:ext cx="476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 Bulla · Marco Buffa · Pietro Crea</a:t>
            </a:r>
            <a:endParaRPr lang="en-US" sz="975" dirty="0"/>
          </a:p>
        </p:txBody>
      </p:sp>
      <p:sp>
        <p:nvSpPr>
          <p:cNvPr id="10" name="Text 7"/>
          <p:cNvSpPr txBox="1"/>
          <p:nvPr/>
        </p:nvSpPr>
        <p:spPr>
          <a:xfrm>
            <a:off x="609600" y="4629150"/>
            <a:ext cx="4762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Ingegneria del Software · Prof. Paolo Giorgini · A.A. 2026-2027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38500" cy="5143500"/>
          </a:xfrm>
          <a:prstGeom prst="rect">
            <a:avLst/>
          </a:prstGeom>
          <a:solidFill>
            <a:srgbClr val="B545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09600" y="609600"/>
            <a:ext cx="2286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6D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CONTESTO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190625"/>
            <a:ext cx="2286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900" b="1" dirty="0">
                <a:solidFill>
                  <a:srgbClr val="FBF6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 mln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1819275"/>
            <a:ext cx="22383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6D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turisti l’anno a Trento, in crescita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2357438"/>
            <a:ext cx="2286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900" b="1" dirty="0">
                <a:solidFill>
                  <a:srgbClr val="FBF6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2,7 gg</a:t>
            </a:r>
            <a:endParaRPr lang="en-US" sz="3900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2986088"/>
            <a:ext cx="22383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6D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permanenza media in città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3524250"/>
            <a:ext cx="2286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900" b="1" dirty="0">
                <a:solidFill>
                  <a:srgbClr val="FBF6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2ª</a:t>
            </a:r>
            <a:endParaRPr lang="en-US" sz="3900" dirty="0"/>
          </a:p>
        </p:txBody>
      </p:sp>
      <p:sp>
        <p:nvSpPr>
          <p:cNvPr id="9" name="Text 7"/>
          <p:cNvSpPr txBox="1"/>
          <p:nvPr/>
        </p:nvSpPr>
        <p:spPr>
          <a:xfrm>
            <a:off x="609600" y="4152900"/>
            <a:ext cx="22383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6D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più visitata d’Italia (Trentino-A.A.)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771900" y="904875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problema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771900" y="1428750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545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Tanti turisti, sempre la stessa Trento.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771900" y="2095500"/>
            <a:ext cx="400050" cy="400050"/>
          </a:xfrm>
          <a:prstGeom prst="ellipse">
            <a:avLst/>
          </a:prstGeom>
          <a:solidFill>
            <a:srgbClr val="1B2428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1913" y="2195513"/>
            <a:ext cx="200025" cy="20002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333875" y="2076450"/>
            <a:ext cx="419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Turismo di superficie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4333875" y="2314575"/>
            <a:ext cx="41910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i soliti due o tre luoghi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771900" y="2809875"/>
            <a:ext cx="400050" cy="400050"/>
          </a:xfrm>
          <a:prstGeom prst="ellipse">
            <a:avLst/>
          </a:prstGeom>
          <a:solidFill>
            <a:srgbClr val="1B2428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1913" y="2909888"/>
            <a:ext cx="200025" cy="20002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333875" y="2790825"/>
            <a:ext cx="419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Informazioni introvabili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4333875" y="3028950"/>
            <a:ext cx="41910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Scarse, sparse o a pagamento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3771900" y="3524250"/>
            <a:ext cx="400050" cy="400050"/>
          </a:xfrm>
          <a:prstGeom prst="ellipse">
            <a:avLst/>
          </a:prstGeom>
          <a:solidFill>
            <a:srgbClr val="1B2428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1913" y="3624263"/>
            <a:ext cx="200025" cy="20002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333875" y="3505200"/>
            <a:ext cx="419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popolare dimenticata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4333875" y="3743325"/>
            <a:ext cx="41910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storia dei residenti non ha spazio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571500"/>
            <a:ext cx="7924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soluzione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085850"/>
            <a:ext cx="7924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545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web app tascabile, costruita con la community.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09600" y="1619250"/>
            <a:ext cx="2538413" cy="1190625"/>
          </a:xfrm>
          <a:prstGeom prst="roundRect">
            <a:avLst>
              <a:gd name="adj" fmla="val 8000"/>
            </a:avLst>
          </a:prstGeom>
          <a:solidFill>
            <a:srgbClr val="FBF7F0"/>
          </a:solidFill>
          <a:ln w="9525">
            <a:solidFill>
              <a:srgbClr val="E2D6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1050" y="1790700"/>
            <a:ext cx="323850" cy="323850"/>
          </a:xfrm>
          <a:prstGeom prst="ellipse">
            <a:avLst/>
          </a:prstGeom>
          <a:solidFill>
            <a:srgbClr val="B5452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013" y="1871663"/>
            <a:ext cx="161925" cy="1619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00150" y="1790700"/>
            <a:ext cx="182403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dirty="0">
                <a:solidFill>
                  <a:srgbClr val="1B2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dei luoghi</a:t>
            </a:r>
            <a:endParaRPr lang="en-US" sz="1275" dirty="0"/>
          </a:p>
        </p:txBody>
      </p:sp>
      <p:sp>
        <p:nvSpPr>
          <p:cNvPr id="8" name="Text 5"/>
          <p:cNvSpPr txBox="1"/>
          <p:nvPr/>
        </p:nvSpPr>
        <p:spPr>
          <a:xfrm>
            <a:off x="781050" y="2238375"/>
            <a:ext cx="21955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vedere e fare, dal Buonconsiglio al Duomo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00413" y="1619250"/>
            <a:ext cx="2538413" cy="1190625"/>
          </a:xfrm>
          <a:prstGeom prst="roundRect">
            <a:avLst>
              <a:gd name="adj" fmla="val 8000"/>
            </a:avLst>
          </a:prstGeom>
          <a:solidFill>
            <a:srgbClr val="FBF7F0"/>
          </a:solidFill>
          <a:ln w="9525">
            <a:solidFill>
              <a:srgbClr val="E2D6C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71863" y="1790700"/>
            <a:ext cx="323850" cy="323850"/>
          </a:xfrm>
          <a:prstGeom prst="ellipse">
            <a:avLst/>
          </a:prstGeom>
          <a:solidFill>
            <a:srgbClr val="B5452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825" y="1871663"/>
            <a:ext cx="161925" cy="16192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890962" y="1790700"/>
            <a:ext cx="182403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dirty="0">
                <a:solidFill>
                  <a:srgbClr val="1B2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 nascosta</a:t>
            </a:r>
            <a:endParaRPr lang="en-US" sz="1275" dirty="0"/>
          </a:p>
        </p:txBody>
      </p:sp>
      <p:sp>
        <p:nvSpPr>
          <p:cNvPr id="13" name="Text 9"/>
          <p:cNvSpPr txBox="1"/>
          <p:nvPr/>
        </p:nvSpPr>
        <p:spPr>
          <a:xfrm>
            <a:off x="3471863" y="2238375"/>
            <a:ext cx="21955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affreschi del centro, geolocalizzati e spiegati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991225" y="1619250"/>
            <a:ext cx="2538413" cy="1190625"/>
          </a:xfrm>
          <a:prstGeom prst="roundRect">
            <a:avLst>
              <a:gd name="adj" fmla="val 8000"/>
            </a:avLst>
          </a:prstGeom>
          <a:solidFill>
            <a:srgbClr val="FBF7F0"/>
          </a:solidFill>
          <a:ln w="9525">
            <a:solidFill>
              <a:srgbClr val="E2D6C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162675" y="1790700"/>
            <a:ext cx="323850" cy="323850"/>
          </a:xfrm>
          <a:prstGeom prst="ellipse">
            <a:avLst/>
          </a:prstGeom>
          <a:solidFill>
            <a:srgbClr val="B5452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3638" y="1871663"/>
            <a:ext cx="161925" cy="16192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581775" y="1790700"/>
            <a:ext cx="182403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dirty="0">
                <a:solidFill>
                  <a:srgbClr val="1B2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e aneddoti</a:t>
            </a:r>
            <a:endParaRPr lang="en-US" sz="1275" dirty="0"/>
          </a:p>
        </p:txBody>
      </p:sp>
      <p:sp>
        <p:nvSpPr>
          <p:cNvPr id="18" name="Text 13"/>
          <p:cNvSpPr txBox="1"/>
          <p:nvPr/>
        </p:nvSpPr>
        <p:spPr>
          <a:xfrm>
            <a:off x="6162675" y="2238375"/>
            <a:ext cx="21955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Caricati dagli utenti su luoghi e famiglie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09600" y="2962275"/>
            <a:ext cx="2538413" cy="1190625"/>
          </a:xfrm>
          <a:prstGeom prst="roundRect">
            <a:avLst>
              <a:gd name="adj" fmla="val 8000"/>
            </a:avLst>
          </a:prstGeom>
          <a:solidFill>
            <a:srgbClr val="FBF7F0"/>
          </a:solidFill>
          <a:ln w="9525">
            <a:solidFill>
              <a:srgbClr val="E2D6C4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81050" y="3133725"/>
            <a:ext cx="323850" cy="323850"/>
          </a:xfrm>
          <a:prstGeom prst="ellipse">
            <a:avLst/>
          </a:prstGeom>
          <a:solidFill>
            <a:srgbClr val="B5452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013" y="3214688"/>
            <a:ext cx="161925" cy="16192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00150" y="3133725"/>
            <a:ext cx="182403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dirty="0">
                <a:solidFill>
                  <a:srgbClr val="1B2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Tradizioni</a:t>
            </a:r>
            <a:endParaRPr lang="en-US" sz="1275" dirty="0"/>
          </a:p>
        </p:txBody>
      </p:sp>
      <p:sp>
        <p:nvSpPr>
          <p:cNvPr id="23" name="Text 17"/>
          <p:cNvSpPr txBox="1"/>
          <p:nvPr/>
        </p:nvSpPr>
        <p:spPr>
          <a:xfrm>
            <a:off x="781050" y="3581400"/>
            <a:ext cx="21955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Feste, usanze e storie del Trentino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300413" y="2962275"/>
            <a:ext cx="2538413" cy="1190625"/>
          </a:xfrm>
          <a:prstGeom prst="roundRect">
            <a:avLst>
              <a:gd name="adj" fmla="val 8000"/>
            </a:avLst>
          </a:prstGeom>
          <a:solidFill>
            <a:srgbClr val="FBF7F0"/>
          </a:solidFill>
          <a:ln w="9525">
            <a:solidFill>
              <a:srgbClr val="E2D6C4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3471863" y="3133725"/>
            <a:ext cx="323850" cy="323850"/>
          </a:xfrm>
          <a:prstGeom prst="ellipse">
            <a:avLst/>
          </a:prstGeom>
          <a:solidFill>
            <a:srgbClr val="B5452C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2825" y="3214688"/>
            <a:ext cx="161925" cy="16192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890962" y="3133725"/>
            <a:ext cx="182403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dirty="0">
                <a:solidFill>
                  <a:srgbClr val="1B2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del gusto</a:t>
            </a:r>
            <a:endParaRPr lang="en-US" sz="1275" dirty="0"/>
          </a:p>
        </p:txBody>
      </p:sp>
      <p:sp>
        <p:nvSpPr>
          <p:cNvPr id="28" name="Text 21"/>
          <p:cNvSpPr txBox="1"/>
          <p:nvPr/>
        </p:nvSpPr>
        <p:spPr>
          <a:xfrm>
            <a:off x="3471863" y="3581400"/>
            <a:ext cx="21955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assaggiare i piatti tipici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5991225" y="2962275"/>
            <a:ext cx="2538413" cy="1190625"/>
          </a:xfrm>
          <a:prstGeom prst="roundRect">
            <a:avLst>
              <a:gd name="adj" fmla="val 8000"/>
            </a:avLst>
          </a:prstGeom>
          <a:solidFill>
            <a:srgbClr val="1B2428"/>
          </a:solidFill>
          <a:ln w="9525">
            <a:solidFill>
              <a:srgbClr val="1B2428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162675" y="3133725"/>
            <a:ext cx="323850" cy="323850"/>
          </a:xfrm>
          <a:prstGeom prst="ellipse">
            <a:avLst/>
          </a:prstGeom>
          <a:solidFill>
            <a:srgbClr val="D99A2B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3638" y="3214688"/>
            <a:ext cx="161925" cy="161925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581775" y="3133725"/>
            <a:ext cx="182403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“Dov’era?”</a:t>
            </a:r>
            <a:endParaRPr lang="en-US" sz="1275" dirty="0"/>
          </a:p>
        </p:txBody>
      </p:sp>
      <p:sp>
        <p:nvSpPr>
          <p:cNvPr id="33" name="Text 25"/>
          <p:cNvSpPr txBox="1"/>
          <p:nvPr/>
        </p:nvSpPr>
        <p:spPr>
          <a:xfrm>
            <a:off x="6162675" y="3581400"/>
            <a:ext cx="21955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Minigame: indovina il luogo da una foto storica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609600" y="4572000"/>
            <a:ext cx="792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b="1" dirty="0">
                <a:solidFill>
                  <a:srgbClr val="B54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Innovazione</a:t>
            </a:r>
            <a:pPr indent="0" marL="0">
              <a:buNone/>
            </a:pPr>
            <a:r>
              <a:rPr lang="en-US" sz="975" dirty="0">
                <a:solidFill>
                  <a:srgbClr val="5A5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contenuti della community + gioco, a partire da fonti storiche curate</a:t>
            </a:r>
            <a:endParaRPr lang="en-US" sz="97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571500"/>
            <a:ext cx="7924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vantaggi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1085850"/>
            <a:ext cx="7924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545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valore per ogni attore coinvolto.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09600" y="1595438"/>
            <a:ext cx="2538413" cy="1190625"/>
          </a:xfrm>
          <a:prstGeom prst="roundRect">
            <a:avLst>
              <a:gd name="adj" fmla="val 8000"/>
            </a:avLst>
          </a:prstGeom>
          <a:solidFill>
            <a:srgbClr val="FBF7F0"/>
          </a:solidFill>
          <a:ln w="9525">
            <a:solidFill>
              <a:srgbClr val="E2D6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0100" y="1785938"/>
            <a:ext cx="323850" cy="323850"/>
          </a:xfrm>
          <a:prstGeom prst="ellipse">
            <a:avLst/>
          </a:prstGeom>
          <a:solidFill>
            <a:srgbClr val="B5452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63" y="1866900"/>
            <a:ext cx="161925" cy="1619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19200" y="1785938"/>
            <a:ext cx="1809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Turisti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2243138"/>
            <a:ext cx="21574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 originali, oltre i soliti luoghi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00413" y="1595438"/>
            <a:ext cx="2538413" cy="1190625"/>
          </a:xfrm>
          <a:prstGeom prst="roundRect">
            <a:avLst>
              <a:gd name="adj" fmla="val 8000"/>
            </a:avLst>
          </a:prstGeom>
          <a:solidFill>
            <a:srgbClr val="FBF7F0"/>
          </a:solidFill>
          <a:ln w="9525">
            <a:solidFill>
              <a:srgbClr val="E2D6C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90913" y="1785938"/>
            <a:ext cx="323850" cy="323850"/>
          </a:xfrm>
          <a:prstGeom prst="ellipse">
            <a:avLst/>
          </a:prstGeom>
          <a:solidFill>
            <a:srgbClr val="B5452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75" y="1866900"/>
            <a:ext cx="161925" cy="16192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910013" y="1785938"/>
            <a:ext cx="1809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Residenti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3490913" y="2243138"/>
            <a:ext cx="21574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Riscoprono la città e ne diventano narratori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991225" y="1595438"/>
            <a:ext cx="2538413" cy="1190625"/>
          </a:xfrm>
          <a:prstGeom prst="roundRect">
            <a:avLst>
              <a:gd name="adj" fmla="val 8000"/>
            </a:avLst>
          </a:prstGeom>
          <a:solidFill>
            <a:srgbClr val="FBF7F0"/>
          </a:solidFill>
          <a:ln w="9525">
            <a:solidFill>
              <a:srgbClr val="E2D6C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181725" y="1785938"/>
            <a:ext cx="323850" cy="323850"/>
          </a:xfrm>
          <a:prstGeom prst="ellipse">
            <a:avLst/>
          </a:prstGeom>
          <a:solidFill>
            <a:srgbClr val="B5452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2688" y="1866900"/>
            <a:ext cx="161925" cy="16192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600825" y="1785938"/>
            <a:ext cx="1809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4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Comune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6181725" y="2243138"/>
            <a:ext cx="21574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Valorizza il patrimonio “minore” e distribuisce i flussi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09600" y="2976563"/>
            <a:ext cx="7924800" cy="1428750"/>
          </a:xfrm>
          <a:prstGeom prst="roundRect">
            <a:avLst>
              <a:gd name="adj" fmla="val 6667"/>
            </a:avLst>
          </a:prstGeom>
          <a:solidFill>
            <a:srgbClr val="1B2428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38200" y="3186113"/>
            <a:ext cx="381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LUNGO PERIODO</a:t>
            </a:r>
            <a:endParaRPr lang="en-US" sz="9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609975"/>
            <a:ext cx="247650" cy="24765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00150" y="3571875"/>
            <a:ext cx="200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archivio collettivo della memoria cittadina</a:t>
            </a:r>
            <a:endParaRPr lang="en-US" sz="105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6138" y="3609975"/>
            <a:ext cx="247650" cy="24765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3748087" y="3571875"/>
            <a:ext cx="200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motivo per restare oltre i 2,7 giorni</a:t>
            </a:r>
            <a:endParaRPr lang="en-US" sz="105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4075" y="3609975"/>
            <a:ext cx="247650" cy="24765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296025" y="3571875"/>
            <a:ext cx="200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 di appartenenza: una storia che resta viva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90625" y="3143250"/>
            <a:ext cx="3810000" cy="3810000"/>
          </a:xfrm>
          <a:prstGeom prst="ellipse">
            <a:avLst/>
          </a:prstGeom>
          <a:solidFill>
            <a:srgbClr val="B5452C"/>
          </a:solidFill>
          <a:ln/>
        </p:spPr>
      </p:sp>
      <p:sp>
        <p:nvSpPr>
          <p:cNvPr id="3" name="Shape 1"/>
          <p:cNvSpPr/>
          <p:nvPr/>
        </p:nvSpPr>
        <p:spPr>
          <a:xfrm>
            <a:off x="7572375" y="-714375"/>
            <a:ext cx="2190750" cy="2190750"/>
          </a:xfrm>
          <a:prstGeom prst="ellipse">
            <a:avLst/>
          </a:prstGeom>
          <a:solidFill>
            <a:srgbClr val="D99A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0" y="1619250"/>
            <a:ext cx="914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50" b="1" dirty="0">
                <a:solidFill>
                  <a:srgbClr val="F4EE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Grazie</a:t>
            </a:r>
            <a:endParaRPr lang="en-US" sz="6750" dirty="0"/>
          </a:p>
        </p:txBody>
      </p:sp>
      <p:sp>
        <p:nvSpPr>
          <p:cNvPr id="5" name="Text 3"/>
          <p:cNvSpPr txBox="1"/>
          <p:nvPr/>
        </p:nvSpPr>
        <p:spPr>
          <a:xfrm>
            <a:off x="0" y="2667000"/>
            <a:ext cx="914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D99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Domande?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2667000" y="466725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dirty="0">
                <a:solidFill>
                  <a:srgbClr val="9A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 Bulla · Marco Buffa · Pietro Crea</a:t>
            </a:r>
            <a:endParaRPr lang="en-US" sz="97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Discover Tridentum</dc:title>
  <dc:subject>PptxGenJS Presentation</dc:subject>
  <dc:creator>PptxGenJS</dc:creator>
  <cp:lastModifiedBy>PptxGenJS</cp:lastModifiedBy>
  <cp:revision>1</cp:revision>
  <dcterms:created xsi:type="dcterms:W3CDTF">2026-09-30T10:52:36Z</dcterms:created>
  <dcterms:modified xsi:type="dcterms:W3CDTF">2026-09-30T10:52:36Z</dcterms:modified>
</cp:coreProperties>
</file>
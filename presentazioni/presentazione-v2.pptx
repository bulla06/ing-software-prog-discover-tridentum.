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4" d="100"/>
          <a:sy n="114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01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Siamo il team di Trento Nascosta. Vi presentiamo una guida turistica per Trento, ma tutto tranne che convenzionale.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Trento accoglie circa 1,4 milioni di turisti l'anno, con una permanenza media di 2,7 giorni, e il numero è in crescita. Eppure si racconta quasi solo il Concilio e il passato austriaco. Resta fuori la storia più cittadina: la Tridentum romana, i bombardamenti della Seconda guerra mondiale e la ricostruzione, lo spostamento degli argini dell'Adige. Gli affreschi del centro sono tantissimi ma difficili da identificare e cercare online. Attori coinvolti: turisti, residenti e Comune. Se non interveniamo, questo patrimonio resta invisibile e i flussi si concentrano sui soliti due o tre luoghi.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nostra risposta è Trento Nascosta: una web app che dà indicazioni ai turisti su cosa fare durante la permanenza, e colma il vuoto sulla storia meno raccontata. Sei funzioni: mappa dei punti di interesse, affreschi del centro geolocalizzati, caricamento di foto e aneddoti da parte degli utenti, cultura e tradizioni, mappa gastronomica e un minigame in stile GeoGuessr con foto storiche della città. L'elemento distintivo rispetto alle guide classiche è che i contenuti crescono grazie ai residenti, e il gioco aumenta il coinvolgimento. È realizzabile partendo da un nucleo di contenuti curati e può essere esteso in futuro ad altri quartieri o a tutto il Trentino.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 diretti: i turisti hanno una guida sempre a portata di mano con itinerari originali; i residenti riscoprono la città e possono raccontarla; il Comune valorizza un patrimonio oggi poco visibile e distribuisce meglio i flussi. Nel lungo periodo si crea un archivio collettivo della memoria di Trento, si offre un motivo in più per allungare la permanenza e si rafforza il senso di appartenenza. Il valore aggiunto è una storia della città che non resta nei libri ma vive nelle strade.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0" y="-952500"/>
            <a:ext cx="5143500" cy="514350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857875" y="3619500"/>
            <a:ext cx="2381250" cy="2381250"/>
          </a:xfrm>
          <a:prstGeom prst="ellipse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904875"/>
            <a:ext cx="1428750" cy="14287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11906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kern="0" spc="15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TRENTO NASCOSTA</a:t>
            </a:r>
            <a:endParaRPr lang="en-US" sz="975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1428750"/>
            <a:ext cx="4762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4E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2214563"/>
            <a:ext cx="4762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Tridentum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31432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i="1" dirty="0">
                <a:solidFill>
                  <a:srgbClr val="C9C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città che non trovi su Google.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4429125"/>
            <a:ext cx="476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Bulla · Marco Buffa · Pietro Crea</a:t>
            </a:r>
            <a:endParaRPr lang="en-US" sz="975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4629150"/>
            <a:ext cx="476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Ingegneria del Software · Prof. Paolo Giorgini · A.A. 2026-2027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38500" cy="5143500"/>
          </a:xfrm>
          <a:prstGeom prst="rect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CONTESTO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190625"/>
            <a:ext cx="2286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FB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 mln</a:t>
            </a:r>
            <a:endParaRPr lang="en-US" sz="39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819275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 l’anno a Trento, in crescita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2357438"/>
            <a:ext cx="2286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FB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 gg</a:t>
            </a:r>
            <a:endParaRPr lang="en-US" sz="39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2986088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permanenza media in città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3524250"/>
            <a:ext cx="2286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FB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</a:t>
            </a:r>
            <a:endParaRPr lang="en-US" sz="39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415290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più visitata d’Italia (Trentino-A.A.)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771900" y="904875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771900" y="14287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B5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Tanti turisti, sempre la stessa Trento.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71900" y="2095500"/>
            <a:ext cx="400050" cy="400050"/>
          </a:xfrm>
          <a:prstGeom prst="ellipse">
            <a:avLst/>
          </a:prstGeom>
          <a:solidFill>
            <a:srgbClr val="1B242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13" y="2195513"/>
            <a:ext cx="200025" cy="20002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333875" y="20764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di superficie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333875" y="2314575"/>
            <a:ext cx="419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 soliti due o tre luoghi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771900" y="2809875"/>
            <a:ext cx="400050" cy="400050"/>
          </a:xfrm>
          <a:prstGeom prst="ellipse">
            <a:avLst/>
          </a:prstGeom>
          <a:solidFill>
            <a:srgbClr val="1B242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913" y="2909888"/>
            <a:ext cx="200025" cy="20002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333875" y="2790825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Informazioni secondarie introvabili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4333875" y="3028950"/>
            <a:ext cx="419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Scarse, sparse o a pagamento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771900" y="3524250"/>
            <a:ext cx="400050" cy="400050"/>
          </a:xfrm>
          <a:prstGeom prst="ellipse">
            <a:avLst/>
          </a:prstGeom>
          <a:solidFill>
            <a:srgbClr val="1B242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913" y="3624263"/>
            <a:ext cx="200025" cy="2000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333875" y="35052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popolare dimenticata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4333875" y="3743325"/>
            <a:ext cx="419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storia dei residenti non ha spazio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571500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soluzione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085850"/>
            <a:ext cx="792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B5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web app tascabile, costruita con la community.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600" y="1619250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81050" y="1790700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3" y="1871663"/>
            <a:ext cx="161925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0150" y="1790700"/>
            <a:ext cx="18240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dei luoghi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781050" y="2238375"/>
            <a:ext cx="2195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storia antica alla più recente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00413" y="1619250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3471863" y="1790700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825" y="1871663"/>
            <a:ext cx="161925" cy="1619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90962" y="1790700"/>
            <a:ext cx="18240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nascosta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3471863" y="2238375"/>
            <a:ext cx="2195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affreschi del centro, geolocalizzati e spiegati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91225" y="1619250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162675" y="1790700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638" y="1871663"/>
            <a:ext cx="161925" cy="1619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1775" y="1790700"/>
            <a:ext cx="18240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e aneddoti</a:t>
            </a:r>
            <a:endParaRPr lang="en-US" sz="1275" dirty="0"/>
          </a:p>
        </p:txBody>
      </p:sp>
      <p:sp>
        <p:nvSpPr>
          <p:cNvPr id="18" name="Text 13"/>
          <p:cNvSpPr txBox="1"/>
          <p:nvPr/>
        </p:nvSpPr>
        <p:spPr>
          <a:xfrm>
            <a:off x="6162675" y="2238375"/>
            <a:ext cx="2195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Caricati dagli utenti su luoghi e famiglie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9600" y="2962275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781050" y="3133725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13" y="3214688"/>
            <a:ext cx="161925" cy="1619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00150" y="3133725"/>
            <a:ext cx="18240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b="1" dirty="0" err="1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Tradizioni</a:t>
            </a:r>
            <a:r>
              <a:rPr lang="en-US" sz="1275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75" b="1" dirty="0" err="1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275" dirty="0"/>
          </a:p>
        </p:txBody>
      </p:sp>
      <p:sp>
        <p:nvSpPr>
          <p:cNvPr id="23" name="Text 17"/>
          <p:cNvSpPr txBox="1"/>
          <p:nvPr/>
        </p:nvSpPr>
        <p:spPr>
          <a:xfrm>
            <a:off x="781050" y="3581400"/>
            <a:ext cx="2195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Feste, usanze e storie del Trentino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300413" y="2962275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3471863" y="3133725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825" y="3214688"/>
            <a:ext cx="161925" cy="1619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90962" y="3133725"/>
            <a:ext cx="18240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del gusto</a:t>
            </a:r>
            <a:endParaRPr lang="en-US" sz="1275" dirty="0"/>
          </a:p>
        </p:txBody>
      </p:sp>
      <p:sp>
        <p:nvSpPr>
          <p:cNvPr id="28" name="Text 21"/>
          <p:cNvSpPr txBox="1"/>
          <p:nvPr/>
        </p:nvSpPr>
        <p:spPr>
          <a:xfrm>
            <a:off x="3471863" y="3581400"/>
            <a:ext cx="2195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assaggiare i piatti tipici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91225" y="2962275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1B2428"/>
          </a:solidFill>
          <a:ln w="9525">
            <a:solidFill>
              <a:srgbClr val="1B24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3"/>
          <p:cNvSpPr/>
          <p:nvPr/>
        </p:nvSpPr>
        <p:spPr>
          <a:xfrm>
            <a:off x="6162675" y="3133725"/>
            <a:ext cx="323850" cy="323850"/>
          </a:xfrm>
          <a:prstGeom prst="ellipse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638" y="3214688"/>
            <a:ext cx="161925" cy="1619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581775" y="3133725"/>
            <a:ext cx="18240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“Dov’era?”</a:t>
            </a:r>
            <a:endParaRPr lang="en-US" sz="1275" dirty="0"/>
          </a:p>
        </p:txBody>
      </p:sp>
      <p:sp>
        <p:nvSpPr>
          <p:cNvPr id="33" name="Text 25"/>
          <p:cNvSpPr txBox="1"/>
          <p:nvPr/>
        </p:nvSpPr>
        <p:spPr>
          <a:xfrm>
            <a:off x="6162675" y="3581400"/>
            <a:ext cx="2195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Minigame: indovina il luogo da una foto storica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09600" y="4572000"/>
            <a:ext cx="792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B5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Innovazione</a:t>
            </a:r>
            <a:r>
              <a:rPr lang="en-US" sz="975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contenuti della community + gioco, a partire da fonti storiche curate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571500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vantaggi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085850"/>
            <a:ext cx="792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B5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valore per ogni attore coinvolto.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600" y="1595438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00100" y="1785938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1866900"/>
            <a:ext cx="161925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19200" y="1785938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Turisti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00100" y="2243138"/>
            <a:ext cx="2157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 originali, oltre i soliti luoghi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00413" y="1595438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3490913" y="1785938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1866900"/>
            <a:ext cx="161925" cy="1619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10013" y="1785938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Residenti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3490913" y="2243138"/>
            <a:ext cx="2157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Riscoprono la città e ne diventano narratori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91225" y="1595438"/>
            <a:ext cx="2538413" cy="1190625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 w="9525">
            <a:solidFill>
              <a:srgbClr val="E2D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181725" y="1785938"/>
            <a:ext cx="323850" cy="32385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8" y="1866900"/>
            <a:ext cx="161925" cy="1619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00825" y="1785938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6181725" y="2243138"/>
            <a:ext cx="2157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Valorizza il patrimonio “minore” e distribuisce i flussi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9600" y="2976563"/>
            <a:ext cx="7924800" cy="1428750"/>
          </a:xfrm>
          <a:prstGeom prst="roundRect">
            <a:avLst>
              <a:gd name="adj" fmla="val 6667"/>
            </a:avLst>
          </a:prstGeom>
          <a:solidFill>
            <a:srgbClr val="1B2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 txBox="1"/>
          <p:nvPr/>
        </p:nvSpPr>
        <p:spPr>
          <a:xfrm>
            <a:off x="838200" y="3186113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LUNGO PERIODO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609975"/>
            <a:ext cx="247650" cy="24765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00150" y="3571875"/>
            <a:ext cx="200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archivio collettivo della memoria cittadina</a:t>
            </a:r>
            <a:endParaRPr lang="en-US" sz="10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138" y="3609975"/>
            <a:ext cx="247650" cy="24765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748087" y="3571875"/>
            <a:ext cx="200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motivo per restare oltre i 2,7 giorni</a:t>
            </a:r>
            <a:endParaRPr lang="en-US" sz="10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075" y="3609975"/>
            <a:ext cx="247650" cy="24765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96025" y="3571875"/>
            <a:ext cx="200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 di appartenenza: una storia che resta viva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0625" y="3143250"/>
            <a:ext cx="3810000" cy="3810000"/>
          </a:xfrm>
          <a:prstGeom prst="ellipse">
            <a:avLst/>
          </a:prstGeom>
          <a:solidFill>
            <a:srgbClr val="B545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572375" y="-714375"/>
            <a:ext cx="2190750" cy="2190750"/>
          </a:xfrm>
          <a:prstGeom prst="ellipse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0" y="1619250"/>
            <a:ext cx="914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50" b="1" dirty="0">
                <a:solidFill>
                  <a:srgbClr val="F4E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</a:t>
            </a:r>
            <a:endParaRPr lang="en-US" sz="6750" dirty="0"/>
          </a:p>
        </p:txBody>
      </p:sp>
      <p:sp>
        <p:nvSpPr>
          <p:cNvPr id="5" name="Text 3"/>
          <p:cNvSpPr txBox="1"/>
          <p:nvPr/>
        </p:nvSpPr>
        <p:spPr>
          <a:xfrm>
            <a:off x="0" y="26670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</a:rPr>
              <a:t>- Q&amp;A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2667000" y="46672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5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Bulla · Marco Buffa · Pietro Crea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600</Words>
  <Application>Microsoft Office PowerPoint</Application>
  <PresentationFormat>Presentazione su schermo (16:9)</PresentationFormat>
  <Paragraphs>60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 Tridentum</dc:title>
  <dc:subject>PptxGenJS Presentation</dc:subject>
  <dc:creator>PptxGenJS</dc:creator>
  <cp:lastModifiedBy>Bulla, Manuel</cp:lastModifiedBy>
  <cp:revision>3</cp:revision>
  <dcterms:created xsi:type="dcterms:W3CDTF">2026-09-30T10:52:36Z</dcterms:created>
  <dcterms:modified xsi:type="dcterms:W3CDTF">2026-10-06T16:18:33Z</dcterms:modified>
</cp:coreProperties>
</file>